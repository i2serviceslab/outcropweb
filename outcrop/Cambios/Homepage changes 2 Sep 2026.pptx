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E67B-9FC7-9406-1969-30FEFEA56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35602-C430-2A6C-E68C-0B51F2F53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31C0-9BDF-3F82-73D8-E12E481C7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90D29-409F-2EE9-205B-C2D346D9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A25C0-8979-A988-177A-488BE0C6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7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A5E7-99A4-D737-0B20-672A427C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9E0CC-4E5E-2372-5683-AD0543DF6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D11BA-612A-143F-3E87-33236B1E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83F6-F162-7332-C9D7-D25BE82A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E0280-AF57-0946-DCD5-8321CCFC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9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E9D6-7F06-0990-9B16-55049514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5E914-060E-CDB3-8989-FC4F7E2F4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42808-AB72-8D7F-E669-0BCF3FD7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84704-E5CA-02FE-56AE-D605F49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F57E3-9717-D1B6-E2AE-5B45C868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83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FE51-D2F5-AA1E-7C06-C9AFE95F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3071D-879F-3DAE-858D-55F380674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54420-52F0-C561-F6E4-ED03F1DF6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BB013-2C63-520A-8983-C3057773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62841-3B16-2622-D0F3-2D96237B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9D7C3-09EF-38EE-3A0D-4809560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0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F18C-60CF-63F6-BE45-222E830C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67221-25B6-067B-2BC9-A72E7F7C6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7B299-1EF4-A813-6F0C-2C282169C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15975-490E-2753-2F7C-997EA32F7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F4E2C-4098-5E7C-D298-BCC6A9A42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DA300-ED2B-2D2C-4AAB-22F8C5FF4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22423-0633-C39B-3D60-ECF284D1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D5F5D-F8BC-3F66-32A5-D871A3F2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5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08B93-0EC0-38CE-1CDD-234A347E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1A8F6-F381-3C6B-6EAC-4270045E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4E46A-D5BF-E063-8404-BDEE054F5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4EFD7-E52A-C41D-1CC4-71E513B7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2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5612D3-667C-7091-A35F-50DCB665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CEA270-1D81-46C1-0BF5-05E13505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B5B9A-B6D2-7671-44EC-FE1F69ED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0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A8BD-EB48-C197-8EC3-B8B7E71A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7CD06-67F8-8686-F9E4-5CDC67BEE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55F74-2778-79B5-54FC-6135A1566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AE6F6-503A-0962-DD55-41478AC3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41C53-E994-2622-B3E9-9C200DA5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AB487-C51E-4825-50EE-5DD0F684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4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D64E-A9CE-805D-B471-597E4376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B2A067-9AFD-091F-6C7D-13D1230CB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48A87-8E18-4608-87CF-8438DDD22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B15E8-A8E4-60C2-F09F-A128C5D5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781C3-222C-4638-D1AC-1CA900A0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6389A-4BCD-6593-65DE-0B04479A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3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AD7B-3325-2D8F-86BA-11E3EC59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A954B-4907-3D13-2C2E-C7BC374E5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9ACB5-4CBF-149A-6C1A-02530782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2FD6-E365-F2EC-A418-68A6C793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9771E-A412-AA34-E4B2-0E3B8EB9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2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A481BE-88C6-E8A7-F14A-756F38A64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FD11A-3D58-5A73-E493-0CD9BCA5D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047DD-8913-485B-E873-D4423593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0E1D0-C91D-4872-AAD4-5B352824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CDAC-A231-0B7B-8459-C5A13372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9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D9D06-6585-37FC-21D0-271304B0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A05EB-2DE1-3C46-48EF-0AD1087BD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BA0DC-32EA-E790-0659-5EF9D8D79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614CD-3FF8-4614-ABC2-CF21F2939EA1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DBA0A-DFB1-18DE-AFAE-63C9C9B89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FE36B-EEA7-413F-7B01-C66413C46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F07E6-2CF5-4023-9679-E8AA2014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3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688441-EB5F-C7EF-A002-5A292DB81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535" y="702326"/>
            <a:ext cx="9058341" cy="504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6352CF-AACE-2D0C-AE94-D13F1AF8AA21}"/>
              </a:ext>
            </a:extLst>
          </p:cNvPr>
          <p:cNvSpPr txBox="1"/>
          <p:nvPr/>
        </p:nvSpPr>
        <p:spPr>
          <a:xfrm>
            <a:off x="1768534" y="1340241"/>
            <a:ext cx="9177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el </a:t>
            </a:r>
            <a:r>
              <a:rPr lang="en-US" dirty="0" err="1"/>
              <a:t>precio</a:t>
            </a:r>
            <a:r>
              <a:rPr lang="en-US" dirty="0"/>
              <a:t> de la </a:t>
            </a:r>
            <a:r>
              <a:rPr lang="en-US" dirty="0" err="1"/>
              <a:t>plata</a:t>
            </a:r>
            <a:r>
              <a:rPr lang="en-US" dirty="0"/>
              <a:t> y el </a:t>
            </a:r>
            <a:r>
              <a:rPr lang="en-US" dirty="0" err="1"/>
              <a:t>precio</a:t>
            </a:r>
            <a:r>
              <a:rPr lang="en-US" dirty="0"/>
              <a:t> de las </a:t>
            </a:r>
            <a:r>
              <a:rPr lang="en-US" dirty="0" err="1"/>
              <a:t>acciones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aparece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parte</a:t>
            </a:r>
            <a:r>
              <a:rPr lang="en-US" dirty="0"/>
              <a:t> superior de la </a:t>
            </a:r>
            <a:r>
              <a:rPr lang="en-US" dirty="0" err="1"/>
              <a:t>página</a:t>
            </a:r>
            <a:r>
              <a:rPr lang="en-US" dirty="0"/>
              <a:t> web es </a:t>
            </a:r>
            <a:r>
              <a:rPr lang="en-US" dirty="0" err="1"/>
              <a:t>incorrecta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563869-EDB3-2771-02E4-31A31CF9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758" y="2279593"/>
            <a:ext cx="7482484" cy="426970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6F1DD-4659-DADD-4268-BA795AEC62F5}"/>
              </a:ext>
            </a:extLst>
          </p:cNvPr>
          <p:cNvCxnSpPr/>
          <p:nvPr/>
        </p:nvCxnSpPr>
        <p:spPr>
          <a:xfrm>
            <a:off x="6172200" y="3993776"/>
            <a:ext cx="5042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453343-E55B-09C0-89B0-FEA37CC77BCB}"/>
              </a:ext>
            </a:extLst>
          </p:cNvPr>
          <p:cNvCxnSpPr/>
          <p:nvPr/>
        </p:nvCxnSpPr>
        <p:spPr>
          <a:xfrm>
            <a:off x="6224867" y="6122894"/>
            <a:ext cx="5042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158E8D-C422-F2C4-0BF5-6C88084F4346}"/>
              </a:ext>
            </a:extLst>
          </p:cNvPr>
          <p:cNvCxnSpPr>
            <a:cxnSpLocks/>
          </p:cNvCxnSpPr>
          <p:nvPr/>
        </p:nvCxnSpPr>
        <p:spPr>
          <a:xfrm>
            <a:off x="8126506" y="3993776"/>
            <a:ext cx="9099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E6DE29-1262-A44A-B089-F5A50830BB63}"/>
              </a:ext>
            </a:extLst>
          </p:cNvPr>
          <p:cNvCxnSpPr>
            <a:cxnSpLocks/>
          </p:cNvCxnSpPr>
          <p:nvPr/>
        </p:nvCxnSpPr>
        <p:spPr>
          <a:xfrm>
            <a:off x="8126506" y="6122894"/>
            <a:ext cx="9099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38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F1663D-B82F-12CD-E5B0-0829B047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00" y="733405"/>
            <a:ext cx="10144199" cy="539118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344FEA2-29BF-D76F-7824-400EB636F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607922"/>
              </p:ext>
            </p:extLst>
          </p:nvPr>
        </p:nvGraphicFramePr>
        <p:xfrm>
          <a:off x="2055308" y="2505033"/>
          <a:ext cx="4533751" cy="39660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3751">
                  <a:extLst>
                    <a:ext uri="{9D8B030D-6E8A-4147-A177-3AD203B41FA5}">
                      <a16:colId xmlns:a16="http://schemas.microsoft.com/office/drawing/2014/main" val="566563991"/>
                    </a:ext>
                  </a:extLst>
                </a:gridCol>
              </a:tblGrid>
              <a:tr h="6281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TRUE PRIMARY SILVER PROJECT - with 73% of indicated </a:t>
                      </a:r>
                      <a:r>
                        <a:rPr lang="en-US" sz="1000" u="none" strike="noStrike" dirty="0" err="1">
                          <a:effectLst/>
                        </a:rPr>
                        <a:t>AgEq</a:t>
                      </a:r>
                      <a:r>
                        <a:rPr lang="en-US" sz="1000" u="none" strike="noStrike" dirty="0">
                          <a:effectLst/>
                        </a:rPr>
                        <a:t>  resources being from silver, this is a true primary silver project with great scarcity value.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372111"/>
                  </a:ext>
                </a:extLst>
              </a:tr>
              <a:tr h="6320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HIGH GRADE RESOURCES - allows a smaller mining operation and plant to produce substantial quantities of silver and gold.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220004"/>
                  </a:ext>
                </a:extLst>
              </a:tr>
              <a:tr h="61856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VEINS AT SURFACE - mining can be sequenced so that higher grade zones are targeted early in the mine plan. Newly discovered high-grade veins can be incorporated into mine plans relatively easily.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730335"/>
                  </a:ext>
                </a:extLst>
              </a:tr>
              <a:tr h="6252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EXCELLENT INFRASTRUCTURE - road access with power, water, labor, and services available should reduce capital and operating costs, as well as accelerate time to production.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97564"/>
                  </a:ext>
                </a:extLst>
              </a:tr>
              <a:tr h="6252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SIMPLE METALLURGY - initial testing suggests high silver and gold recoveries using simple gravity and flotation methods, without the need for cyanide, resulting in a high value precious metals concentrate.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455947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STREAMLINED PERMITTING - the small mining footprint resulting from selective underground mining and a small processing plant, along with strong community and local/regional government support is expected to streamline the permitting process for Santa Ana.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789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5049F47-4322-B7BA-2194-552F07A4DE60}"/>
              </a:ext>
            </a:extLst>
          </p:cNvPr>
          <p:cNvSpPr txBox="1"/>
          <p:nvPr/>
        </p:nvSpPr>
        <p:spPr>
          <a:xfrm>
            <a:off x="8338169" y="342899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768F4-6F87-4129-3CFC-43B9E291E5EB}"/>
              </a:ext>
            </a:extLst>
          </p:cNvPr>
          <p:cNvSpPr txBox="1"/>
          <p:nvPr/>
        </p:nvSpPr>
        <p:spPr>
          <a:xfrm>
            <a:off x="7368673" y="3275110"/>
            <a:ext cx="111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SANTA ANA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7B3CFC-FE4B-D820-A781-B17FD311ED3F}"/>
              </a:ext>
            </a:extLst>
          </p:cNvPr>
          <p:cNvCxnSpPr>
            <a:endCxn id="11" idx="1"/>
          </p:cNvCxnSpPr>
          <p:nvPr/>
        </p:nvCxnSpPr>
        <p:spPr>
          <a:xfrm>
            <a:off x="7537076" y="3613665"/>
            <a:ext cx="8010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184A6A9-08D2-DA81-AC26-53D4E1E381FC}"/>
              </a:ext>
            </a:extLst>
          </p:cNvPr>
          <p:cNvSpPr/>
          <p:nvPr/>
        </p:nvSpPr>
        <p:spPr>
          <a:xfrm>
            <a:off x="8474707" y="3375209"/>
            <a:ext cx="107577" cy="10757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AD301B-0727-AEE1-7C00-AF25660DF2F3}"/>
              </a:ext>
            </a:extLst>
          </p:cNvPr>
          <p:cNvSpPr/>
          <p:nvPr/>
        </p:nvSpPr>
        <p:spPr>
          <a:xfrm>
            <a:off x="577412" y="1237119"/>
            <a:ext cx="8761570" cy="56208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2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42053-B502-9ED3-F145-867982190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58" y="219618"/>
            <a:ext cx="7972483" cy="1981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AD8484-FE62-719D-C5FB-32989A81008E}"/>
              </a:ext>
            </a:extLst>
          </p:cNvPr>
          <p:cNvSpPr txBox="1"/>
          <p:nvPr/>
        </p:nvSpPr>
        <p:spPr>
          <a:xfrm>
            <a:off x="2198595" y="13648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&gt;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7ED612-FE1B-6DE4-209B-21C49C5C4E70}"/>
              </a:ext>
            </a:extLst>
          </p:cNvPr>
          <p:cNvSpPr/>
          <p:nvPr/>
        </p:nvSpPr>
        <p:spPr>
          <a:xfrm>
            <a:off x="1889312" y="1149713"/>
            <a:ext cx="800100" cy="813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AC60F2-7C5F-1EE4-F411-387BE3D69EDC}"/>
              </a:ext>
            </a:extLst>
          </p:cNvPr>
          <p:cNvCxnSpPr>
            <a:cxnSpLocks/>
          </p:cNvCxnSpPr>
          <p:nvPr/>
        </p:nvCxnSpPr>
        <p:spPr>
          <a:xfrm>
            <a:off x="5230906" y="1714026"/>
            <a:ext cx="0" cy="2017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9EBA3B7-4BA9-CA63-A27D-8196AB6CF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601" y="2625507"/>
            <a:ext cx="4981611" cy="417198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4B5F1E-4010-07E1-EB32-6A9095333964}"/>
              </a:ext>
            </a:extLst>
          </p:cNvPr>
          <p:cNvCxnSpPr>
            <a:cxnSpLocks/>
          </p:cNvCxnSpPr>
          <p:nvPr/>
        </p:nvCxnSpPr>
        <p:spPr>
          <a:xfrm>
            <a:off x="7319695" y="3805517"/>
            <a:ext cx="31286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117FE8-3967-2286-1FA8-3B47D01DEDA1}"/>
              </a:ext>
            </a:extLst>
          </p:cNvPr>
          <p:cNvSpPr txBox="1"/>
          <p:nvPr/>
        </p:nvSpPr>
        <p:spPr>
          <a:xfrm>
            <a:off x="7587502" y="3892924"/>
            <a:ext cx="27158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STRONG MANAGEMENT TEAM &amp; BOARD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1831EB-11BF-9BE4-3137-3A591B755206}"/>
              </a:ext>
            </a:extLst>
          </p:cNvPr>
          <p:cNvSpPr/>
          <p:nvPr/>
        </p:nvSpPr>
        <p:spPr>
          <a:xfrm>
            <a:off x="4830856" y="1508957"/>
            <a:ext cx="800100" cy="813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4E246C-88D2-860D-E44A-108C8C186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111" y="2677894"/>
            <a:ext cx="4953036" cy="40672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1C34F1C-D46D-06C5-5B6A-56191C43BE09}"/>
              </a:ext>
            </a:extLst>
          </p:cNvPr>
          <p:cNvSpPr txBox="1"/>
          <p:nvPr/>
        </p:nvSpPr>
        <p:spPr>
          <a:xfrm>
            <a:off x="746311" y="2318730"/>
            <a:ext cx="494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https://silverinstitute.org/silver-supply-demand/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A72280-344F-1090-E727-0448543F40A5}"/>
              </a:ext>
            </a:extLst>
          </p:cNvPr>
          <p:cNvCxnSpPr>
            <a:stCxn id="18" idx="2"/>
          </p:cNvCxnSpPr>
          <p:nvPr/>
        </p:nvCxnSpPr>
        <p:spPr>
          <a:xfrm>
            <a:off x="3217597" y="2688062"/>
            <a:ext cx="533032" cy="3410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080E25-5D4B-AAB0-11EA-63EA40E2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144" y="1381110"/>
            <a:ext cx="5019712" cy="409578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3BAC13-DD00-A14F-1673-FB384D28C0C2}"/>
              </a:ext>
            </a:extLst>
          </p:cNvPr>
          <p:cNvCxnSpPr>
            <a:cxnSpLocks/>
          </p:cNvCxnSpPr>
          <p:nvPr/>
        </p:nvCxnSpPr>
        <p:spPr>
          <a:xfrm flipH="1">
            <a:off x="6878171" y="2007900"/>
            <a:ext cx="80683" cy="2579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BEB46F-FC85-5F7E-494B-251CA7D43197}"/>
              </a:ext>
            </a:extLst>
          </p:cNvPr>
          <p:cNvSpPr txBox="1"/>
          <p:nvPr/>
        </p:nvSpPr>
        <p:spPr>
          <a:xfrm>
            <a:off x="5131633" y="2556343"/>
            <a:ext cx="19287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GET THE LATEST INFORMATION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8D8570-53CA-CE53-D5B8-3F22FB9D1E1F}"/>
              </a:ext>
            </a:extLst>
          </p:cNvPr>
          <p:cNvCxnSpPr>
            <a:cxnSpLocks/>
          </p:cNvCxnSpPr>
          <p:nvPr/>
        </p:nvCxnSpPr>
        <p:spPr>
          <a:xfrm flipH="1">
            <a:off x="4881282" y="2507876"/>
            <a:ext cx="23532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34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3F7D72-0A6E-E4A8-5932-E12938763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9" y="1438260"/>
            <a:ext cx="11725361" cy="3981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72F819-CC87-5E27-CD42-D24BD10BA3BF}"/>
              </a:ext>
            </a:extLst>
          </p:cNvPr>
          <p:cNvSpPr txBox="1"/>
          <p:nvPr/>
        </p:nvSpPr>
        <p:spPr>
          <a:xfrm>
            <a:off x="396689" y="5419739"/>
            <a:ext cx="4191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2026 Outcrop Silver &amp; Gold Corporation. All Rights Reserved.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3647D7-AC73-161F-66B9-9375C3BD8E99}"/>
              </a:ext>
            </a:extLst>
          </p:cNvPr>
          <p:cNvCxnSpPr>
            <a:cxnSpLocks/>
          </p:cNvCxnSpPr>
          <p:nvPr/>
        </p:nvCxnSpPr>
        <p:spPr>
          <a:xfrm>
            <a:off x="629770" y="5325035"/>
            <a:ext cx="25033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47D12E-9225-031B-5C4E-467A58D0FC86}"/>
              </a:ext>
            </a:extLst>
          </p:cNvPr>
          <p:cNvCxnSpPr>
            <a:cxnSpLocks/>
          </p:cNvCxnSpPr>
          <p:nvPr/>
        </p:nvCxnSpPr>
        <p:spPr>
          <a:xfrm>
            <a:off x="10782301" y="5325035"/>
            <a:ext cx="9099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4442A6-4994-EE16-C4F5-06AEC0CA64EE}"/>
              </a:ext>
            </a:extLst>
          </p:cNvPr>
          <p:cNvCxnSpPr>
            <a:cxnSpLocks/>
          </p:cNvCxnSpPr>
          <p:nvPr/>
        </p:nvCxnSpPr>
        <p:spPr>
          <a:xfrm>
            <a:off x="3978088" y="3818964"/>
            <a:ext cx="14881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776D3A-B71A-68A2-DE69-7F03FA1984B9}"/>
              </a:ext>
            </a:extLst>
          </p:cNvPr>
          <p:cNvCxnSpPr>
            <a:cxnSpLocks/>
          </p:cNvCxnSpPr>
          <p:nvPr/>
        </p:nvCxnSpPr>
        <p:spPr>
          <a:xfrm>
            <a:off x="4271683" y="4126005"/>
            <a:ext cx="9099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50B956-1531-C0A3-E264-6F651FDDD53C}"/>
              </a:ext>
            </a:extLst>
          </p:cNvPr>
          <p:cNvSpPr txBox="1"/>
          <p:nvPr/>
        </p:nvSpPr>
        <p:spPr>
          <a:xfrm>
            <a:off x="5466229" y="3680464"/>
            <a:ext cx="791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Investors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245E1A-2628-62B8-B7DA-78E832D54310}"/>
              </a:ext>
            </a:extLst>
          </p:cNvPr>
          <p:cNvCxnSpPr>
            <a:cxnSpLocks/>
          </p:cNvCxnSpPr>
          <p:nvPr/>
        </p:nvCxnSpPr>
        <p:spPr>
          <a:xfrm>
            <a:off x="3978088" y="3496235"/>
            <a:ext cx="3630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82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244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Bruggeman</dc:creator>
  <cp:lastModifiedBy>Rob Bruggeman</cp:lastModifiedBy>
  <cp:revision>1</cp:revision>
  <dcterms:created xsi:type="dcterms:W3CDTF">2026-09-02T13:26:11Z</dcterms:created>
  <dcterms:modified xsi:type="dcterms:W3CDTF">2026-09-02T14:13:26Z</dcterms:modified>
</cp:coreProperties>
</file>